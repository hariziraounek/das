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Class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Absence</c:v>
                  </c:pt>
                  <c:pt idx="1">
                    <c:v>Presence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</c:v>
                </c:pt>
                <c:pt idx="1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Age Groups by Diagnosis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Absence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&lt;40</c:v>
                  </c:pt>
                  <c:pt idx="1">
                    <c:v>40-50</c:v>
                  </c:pt>
                  <c:pt idx="2">
                    <c:v>50-60</c:v>
                  </c:pt>
                  <c:pt idx="3">
                    <c:v>&gt;60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35</c:v>
                </c:pt>
                <c:pt idx="2">
                  <c:v>62</c:v>
                </c:pt>
                <c:pt idx="3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Presence</c:v>
                </c:pt>
              </c:strCache>
            </c:strRef>
          </c:tx>
          <c:spPr>
            <a:solidFill>
              <a:srgbClr val="C112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&lt;40</c:v>
                  </c:pt>
                  <c:pt idx="1">
                    <c:v>40-50</c:v>
                  </c:pt>
                  <c:pt idx="2">
                    <c:v>50-60</c:v>
                  </c:pt>
                  <c:pt idx="3">
                    <c:v>&gt;60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22</c:v>
                </c:pt>
                <c:pt idx="2">
                  <c:v>58</c:v>
                </c:pt>
                <c:pt idx="3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ROC Curve (AUC = 0.899)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 Curve</c:v>
                </c:pt>
              </c:strCache>
            </c:strRef>
          </c:tx>
          <c:spPr>
            <a:solidFill>
              <a:srgbClr val="023E8A"/>
            </a:solidFill>
            <a:ln w="25400" cap="flat">
              <a:solidFill>
                <a:srgbClr val="023E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3E8A"/>
              </a:solidFill>
              <a:ln w="9525" cap="flat">
                <a:solidFill>
                  <a:srgbClr val="023E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0.67</c:v>
                </c:pt>
                <c:pt idx="2">
                  <c:v>0.83</c:v>
                </c:pt>
                <c:pt idx="3">
                  <c:v>0.92</c:v>
                </c:pt>
                <c:pt idx="4">
                  <c:v>0.98</c:v>
                </c:pt>
                <c:pt idx="5">
                  <c:v>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64748B"/>
            </a:solidFill>
            <a:ln w="254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Feature Importance (Log Coeff.)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C112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Max HR</c:v>
                  </c:pt>
                  <c:pt idx="1">
                    <c:v>EKG</c:v>
                  </c:pt>
                  <c:pt idx="2">
                    <c:v>FBS</c:v>
                  </c:pt>
                  <c:pt idx="3">
                    <c:v>Age</c:v>
                  </c:pt>
                  <c:pt idx="4">
                    <c:v>BP</c:v>
                  </c:pt>
                  <c:pt idx="5">
                    <c:v>Exercise Angina</c:v>
                  </c:pt>
                  <c:pt idx="6">
                    <c:v>ST Depression</c:v>
                  </c:pt>
                  <c:pt idx="7">
                    <c:v>Chest Pain</c:v>
                  </c:pt>
                  <c:pt idx="8">
                    <c:v>Vessels</c:v>
                  </c:pt>
                  <c:pt idx="9">
                    <c:v>Thallium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-0.61</c:v>
                </c:pt>
                <c:pt idx="1">
                  <c:v>0.18</c:v>
                </c:pt>
                <c:pt idx="2">
                  <c:v>0.11</c:v>
                </c:pt>
                <c:pt idx="3">
                  <c:v>0.24</c:v>
                </c:pt>
                <c:pt idx="4">
                  <c:v>0.23</c:v>
                </c:pt>
                <c:pt idx="5">
                  <c:v>0.21</c:v>
                </c:pt>
                <c:pt idx="6">
                  <c:v>0.45</c:v>
                </c:pt>
                <c:pt idx="7">
                  <c:v>0.55</c:v>
                </c:pt>
                <c:pt idx="8">
                  <c:v>0.73</c:v>
                </c:pt>
                <c:pt idx="9">
                  <c:v>0.89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058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21945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2880360"/>
            <a:ext cx="457200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Dataset: UCI Heart Disease — 270 Patients, 13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474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Pipeline: Collection — Preprocessing — EDA — Regression — Streamlit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Machine Learning for Healthcare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65960" cy="16459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#1 Killer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Cause of Death Worldwide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965960" cy="164592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10972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17.9M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23160" y="17830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Deaths per year (WHO)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65960" cy="16459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0972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7830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Preventable with early detection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0840" y="1005840"/>
            <a:ext cx="1965960" cy="164592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10972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270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20840" y="17830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Patients in our dataset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E8A"/>
                </a:solidFill>
              </a:rPr>
              <a:t>Research Question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32918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</a:rPr>
              <a:t>Can we build a machine learning model that accurately predicts the presence or absence of heart disease in patients using clinical and diagnostic measurements?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Approach: Binary Classification with Logistic Regression + Linear Regression for continuous variable analysis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Collection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3840480" cy="411480"/>
          </a:xfrm>
          <a:prstGeom prst="rect">
            <a:avLst/>
          </a:prstGeom>
          <a:solidFill>
            <a:srgbClr val="0096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Dataset Source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UCI Machine Learning Repository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196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Cleveland Heart Disease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21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270 patient records collected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243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13 clinical features + 1 target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266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Target: Heart Disease - Presence/Absence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Class split: 120 Presence / 150 Absence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914400"/>
            <a:ext cx="448056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914400"/>
            <a:ext cx="4480560" cy="411480"/>
          </a:xfrm>
          <a:prstGeom prst="rect">
            <a:avLst/>
          </a:prstGeom>
          <a:solidFill>
            <a:srgbClr val="C112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Feature Categories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E8A"/>
                </a:solidFill>
              </a:rPr>
              <a:t>Demographic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Age, Sex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E8A"/>
                </a:solidFill>
              </a:rPr>
              <a:t>Symptomatic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Chest Pain Type, Exercise Angina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606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E8A"/>
                </a:solidFill>
              </a:rPr>
              <a:t>Hemodynamic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BP, Max HR, ST Depression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3154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E8A"/>
                </a:solidFill>
              </a:rPr>
              <a:t>Lab Results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Cholesterol, Fasting Blood Sugar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E8A"/>
                </a:solidFill>
              </a:rPr>
              <a:t>Diagnostic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EKG, Slope ST, Vessels, Thallium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Preprocessing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1828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</a:rPr>
              <a:t>No Missing Values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All 270 records and 14 columns are complete. Zero imputation required.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960120"/>
            <a:ext cx="73152" cy="182880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E8A"/>
                </a:solidFill>
              </a:rPr>
              <a:t>Label Encoding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Target "Heart Disease" encoded to binary: Presence = 1, Absence = 0.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11480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971800"/>
            <a:ext cx="73152" cy="182880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Feature Scaling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StandardScaler applied to all 13 features before Logistic Regression.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11480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971800"/>
            <a:ext cx="73152" cy="18288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</a:rPr>
              <a:t>Train / Test Split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80% training (216 samples) / 20% testing (54 samples), stratified split.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Exploratory Data Analysis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914400"/>
          <a:ext cx="4297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E8A"/>
                </a:solidFill>
              </a:rPr>
              <a:t>Key EDA Findings: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Balanced classes (55.6% Absence / 44.4% Presence)  |  Age 50-60 has highest disease  |  Max HR is protective  |  Thallium &amp; Vessels are top predictors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Linear Regression: Predicting Cholesterol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105156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-0.0082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CAE4"/>
                </a:solidFill>
              </a:rPr>
              <a:t>R² Score - Near zero = low 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51760" cy="105156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960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52.91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CAE4"/>
                </a:solidFill>
              </a:rPr>
              <a:t>RMSE - mg/dl error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651760" cy="105156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960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2799.79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2648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CAE4"/>
                </a:solidFill>
              </a:rPr>
              <a:t>MSE - Variance measure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148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E8A"/>
                </a:solidFill>
              </a:rPr>
              <a:t>Regression Coefficients: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14600"/>
          <a:ext cx="5029200" cy="192024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E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Coefficient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E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E8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+1.4284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Each year increases chol by 1.43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Blood Pressure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+0.3463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Each mmHg increases chol by 0.35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Max Heart Rate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+0.1261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Each BPM increases chol by 0.13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 Depression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-3.6426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Each unit DECREASES chol by 3.64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532120" y="2148840"/>
            <a:ext cx="3337560" cy="2743200"/>
          </a:xfrm>
          <a:prstGeom prst="rect">
            <a:avLst/>
          </a:prstGeom>
          <a:solidFill>
            <a:srgbClr val="FFF3F3"/>
          </a:solidFill>
          <a:ln/>
        </p:spPr>
      </p:sp>
      <p:sp>
        <p:nvSpPr>
          <p:cNvPr id="16" name="Shape 13"/>
          <p:cNvSpPr/>
          <p:nvPr/>
        </p:nvSpPr>
        <p:spPr>
          <a:xfrm>
            <a:off x="5532120" y="2148840"/>
            <a:ext cx="64008" cy="2743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69280" y="2578608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R2 near zero means Age, BP, Max HR, and ST Depression have very limited predictive power for Cholesterol. This is clinically meaningful: cholesterol is primarily driven by diet, genetics and medication — factors not captured in this dataset. The residuals show no pattern, confirming the linear model assumptions hold; the features simply do not explain cholesterol variance well.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Logistic Regression: Heart Disease Classification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011680" cy="10058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85.2%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95728" y="914400"/>
            <a:ext cx="2011680" cy="100584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8" name="Text 6"/>
          <p:cNvSpPr/>
          <p:nvPr/>
        </p:nvSpPr>
        <p:spPr>
          <a:xfrm>
            <a:off x="2395728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0.899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395728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AUC 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08576" y="914400"/>
            <a:ext cx="2011680" cy="10058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91.7%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08576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Sensitivity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21424" y="914400"/>
            <a:ext cx="201168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6821424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80.0%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21424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Specificity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05740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4572000" y="2057400"/>
          <a:ext cx="4297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 Summary &amp; Interpretation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931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875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Linear Regression Findings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Target: Cholesterol level (continuous)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9339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R2 near 0 — selected features have minimal predictive power for cholesterol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7802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Age and BP both positively influence cholesterol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96265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ST Depression has the strongest negative effect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44728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Conclusion: Cholesterol is driven by external factors (diet, genetics) not in this dataset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3931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960120"/>
            <a:ext cx="402336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9875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Logistic Regression Findings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5087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Target: Heart Disease presence (binary)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99339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85.2% accuracy on the hold-out test 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47802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AUC = 0.899 — excellent discrimination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96265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Sensitivity 91.7% — catches most real positive cases (critical for healthcare)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44728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Thallium, Vessels, Chest Pain are the top risk predictors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9319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High Max HR is the strongest protective factor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Streamlit Dashboard Deployment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607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KPIs, accuracy, AUC, pipeline summary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607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Collection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Dataset preview, feature descriptions, source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607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508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Missing values, scaling, encoding steps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926080"/>
            <a:ext cx="2743200" cy="411480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9809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EDA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Interactive charts: distributions, correlation heatmap, pairplots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2926080"/>
            <a:ext cx="2743200" cy="4114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29809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429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LR + LogReg results, confusion matrix, ROC curve, feature importance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7432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2926080"/>
            <a:ext cx="2743200" cy="4114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9809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Predict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429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Enter patient data via sliders for real-time prediction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Deploy command:  streamlit run app.py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Conclusion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572000" cy="0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Logistic Regression: achieved 85.2% accuracy and AUC = 0.899, demonstrating strong clinical viability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09728" cy="384048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2140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Linear Regression: showed that cholesterol is not explained by hemodynamic features alone (R2 near 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67128"/>
            <a:ext cx="109728" cy="384048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7977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Thallium &amp; Fluoroscopy: are the most powerful predictors of heart disease in this dataset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25496"/>
            <a:ext cx="109728" cy="384048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3814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Streamlit Dashboard: provides a user-friendly interface for real-time prediction and result exploration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109728" cy="384048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965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Future Work: SVM, Random Forest, and Neural Networks could further improve accuracy beyond 85%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142232"/>
            <a:ext cx="109728" cy="384048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1121F"/>
                </a:solidFill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</dc:title>
  <dc:subject>PptxGenJS Presentation</dc:subject>
  <dc:creator>Student</dc:creator>
  <cp:lastModifiedBy>Student</cp:lastModifiedBy>
  <cp:revision>1</cp:revision>
  <dcterms:created xsi:type="dcterms:W3CDTF">2026-05-07T20:54:14Z</dcterms:created>
  <dcterms:modified xsi:type="dcterms:W3CDTF">2026-05-07T20:54:14Z</dcterms:modified>
</cp:coreProperties>
</file>